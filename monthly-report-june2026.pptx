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采购部 · 2026年6月工作汇报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Procurement Monthly Report —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365760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D1D5DB"/>
                </a:solidFill>
                <a:latin typeface="Microsoft YaHei"/>
              </a:defRPr>
            </a:pPr>
            <a:r>
              <a:t>汇报人：采购部</a:t>
            </a:r>
          </a:p>
          <a:p>
            <a:pPr>
              <a:spcAft>
                <a:spcPts val="200"/>
              </a:spcAft>
              <a:defRPr sz="1100">
                <a:solidFill>
                  <a:srgbClr val="D1D5DB"/>
                </a:solidFill>
                <a:latin typeface="Microsoft YaHei"/>
              </a:defRPr>
            </a:pPr>
            <a:r>
              <a:t>涵盖品类：MCU · MOS · MLCC · PCB · 连接器 · 电阻 · 结构件</a:t>
            </a:r>
          </a:p>
          <a:p>
            <a:pPr>
              <a:spcAft>
                <a:spcPts val="200"/>
              </a:spcAft>
              <a:defRPr sz="1100">
                <a:solidFill>
                  <a:srgbClr val="D1D5DB"/>
                </a:solidFill>
                <a:latin typeface="Microsoft YaHei"/>
              </a:defRPr>
            </a:pPr>
            <a:r>
              <a:t>报告周期：2026年6月1日 — 6月30日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6675120"/>
            <a:ext cx="2133295" cy="182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2D2D4F"/>
                </a:solidFill>
                <a:latin typeface="Microsoft YaHei"/>
              </a:defRPr>
            </a:pPr>
            <a:r>
              <a:t>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2D2D4F"/>
                </a:solidFill>
                <a:latin typeface="Microsoft YaHei"/>
              </a:defRPr>
            </a:pPr>
            <a:r>
              <a:t>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📊 6月采购 KPI 总览 · 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💰 降本达成率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Microsoft YaHei"/>
              </a:defRPr>
            </a:pPr>
            <a: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目标 ¥120K · 已完成 ¥104.4K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🚚 OTD 准时交付率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74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目标 ≥90% · 到货 128 批准时 118 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✅ 质量 PPM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1,280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874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目标 ≤1,000 · 超标 28% 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35661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43200"/>
            <a:ext cx="356616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80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📉 供应商优化率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Microsoft YaHei"/>
              </a:defRPr>
            </a:pPr>
            <a: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25→23 家 · 超额完成整合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743200"/>
            <a:ext cx="35661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743200"/>
            <a:ext cx="35661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880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📦 库存周转天数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Microsoft YaHei"/>
              </a:defRPr>
            </a:pPr>
            <a:r>
              <a:t>42天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目标 35 天 · 需重点关注 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743200"/>
            <a:ext cx="35661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2743200"/>
            <a:ext cx="356616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880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📋 采购费用率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Microsoft YaHei"/>
              </a:defRPr>
            </a:pPr>
            <a:r>
              <a:t>2.8%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429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目标 ≤3.0% · 优秀 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114800"/>
            <a:ext cx="11277295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97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💡 本月核心结论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1A1A2E"/>
                </a:solidFill>
                <a:latin typeface="Microsoft YaHei"/>
              </a:defRPr>
            </a:pPr>
            <a:r>
              <a:t>✅ OTD 准时交付率连续 3 个月达标 (92%)，供应商整体履约能力稳定</a:t>
            </a:r>
          </a:p>
          <a:p>
            <a:pPr>
              <a:spcAft>
                <a:spcPts val="200"/>
              </a:spcAft>
              <a:defRPr sz="1050">
                <a:solidFill>
                  <a:srgbClr val="1A1A2E"/>
                </a:solidFill>
                <a:latin typeface="Microsoft YaHei"/>
              </a:defRPr>
            </a:pPr>
            <a:r>
              <a:t>✅ 供应商整合效果显著，已由 25 家优化至 23 家，D 级供应商逐步退出</a:t>
            </a:r>
          </a:p>
          <a:p>
            <a:pPr>
              <a:spcAft>
                <a:spcPts val="200"/>
              </a:spcAft>
              <a:defRPr sz="1050">
                <a:solidFill>
                  <a:srgbClr val="1A1A2E"/>
                </a:solidFill>
                <a:latin typeface="Microsoft YaHei"/>
              </a:defRPr>
            </a:pPr>
            <a:r>
              <a:t>⚠️ 质量 PPM 1,280 超标 28%，主因 MLCC 批次来料不良偏高，已发出 SCAR 至供应商</a:t>
            </a:r>
          </a:p>
          <a:p>
            <a:pPr>
              <a:spcAft>
                <a:spcPts val="200"/>
              </a:spcAft>
              <a:defRPr sz="1050">
                <a:solidFill>
                  <a:srgbClr val="1A1A2E"/>
                </a:solidFill>
                <a:latin typeface="Microsoft YaHei"/>
              </a:defRPr>
            </a:pPr>
            <a:r>
              <a:t>⚠️ 库存周转天数 42 天超目标 7 天，MLCC 品类积压严重，建议暂停采购 2 周消化</a:t>
            </a:r>
          </a:p>
          <a:p>
            <a:pPr>
              <a:spcAft>
                <a:spcPts val="200"/>
              </a:spcAft>
              <a:defRPr sz="1050">
                <a:solidFill>
                  <a:srgbClr val="1A1A2E"/>
                </a:solidFill>
                <a:latin typeface="Microsoft YaHei"/>
              </a:defRPr>
            </a:pPr>
            <a:r>
              <a:t>💰 本月实现降本 ¥7,180 (已落地)，在谈项目预计可再节约 ¥7,400/月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📈 关键指标月度趋势 · KPI Trend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近 6 个月指标走势分析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5897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60120"/>
                <a:gridCol w="960120"/>
                <a:gridCol w="960120"/>
                <a:gridCol w="960120"/>
                <a:gridCol w="960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4月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5月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降本达成率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OTD 交付率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质量 PPM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1,700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0B981"/>
                          </a:solidFill>
                        </a:defRPr>
                      </a:pPr>
                      <a:r>
                        <a:t>1,400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1,300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库存周转天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0B981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供应商数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费用率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📌 趋势解读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A2E"/>
                </a:solidFill>
                <a:latin typeface="Microsoft YaHei"/>
              </a:defRPr>
            </a:pPr>
            <a:r>
              <a:t>📈 降本达成率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299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连续 6 个月稳步上升，从 72% → 87% (+15pp)，下半年有望达成年度目标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A2E"/>
                </a:solidFill>
                <a:latin typeface="Microsoft YaHei"/>
              </a:defRPr>
            </a:pPr>
            <a:r>
              <a:t>📈 OTD 交付率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15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从 85% 持续提升至 92%，供应商管理改进措施效果显著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A2E"/>
                </a:solidFill>
                <a:latin typeface="Microsoft YaHei"/>
              </a:defRPr>
            </a:pPr>
            <a:r>
              <a:t>📉 质量 PPM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015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从 1,800 降至 1,300，改善 28%，但仍未达标 (目标 1,000)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A2E"/>
                </a:solidFill>
                <a:latin typeface="Microsoft YaHei"/>
              </a:defRPr>
            </a:pPr>
            <a:r>
              <a:t>📉 库存周转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从 48 天缩短至 42 天，改善 6 天，距目标 35 天仍有差距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720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A2E"/>
                </a:solidFill>
                <a:latin typeface="Microsoft YaHei"/>
              </a:defRPr>
            </a:pPr>
            <a:r>
              <a:t>✅ 供应商整合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731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从 25 家精简至 23 家，D 级供应商正在退出中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578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A2E"/>
                </a:solidFill>
                <a:latin typeface="Microsoft YaHei"/>
              </a:defRPr>
            </a:pPr>
            <a:r>
              <a:t>✅ 费用率控制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589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从 3.2% 降至 2.8%，低于 3.0% 目标线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💰 6月降本明细 · Cost Saving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料号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降本方式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节约/单位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月用量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月节约额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预计年节约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STM32F103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兼容型号替代 G030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¥3.20/pcs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¥2,560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✓ 已实施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C63FF"/>
                          </a:solidFill>
                        </a:defRPr>
                      </a:pPr>
                      <a:r>
                        <a:t>¥30,720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IRF520 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国产替代·VE 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¥2.85/pcs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¥3,420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✓ 已实施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C63FF"/>
                          </a:solidFill>
                        </a:defRPr>
                      </a:pPr>
                      <a:r>
                        <a:t>¥41,040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PCB 4 层板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设计变更 4→2 层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¥2.80/pcs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¥1,400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🔄 评估中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C63FF"/>
                          </a:solidFill>
                        </a:defRPr>
                      </a:pPr>
                      <a:r>
                        <a:t>¥16,800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0402 MLCC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批量折扣·年用量承诺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¥0.12/pcs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¥6,000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💬 谈判中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C63FF"/>
                          </a:solidFill>
                        </a:defRPr>
                      </a:pPr>
                      <a:r>
                        <a:t>¥72,000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0603 电阻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 阻值整合通用料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¥0.03/pcs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¥3,000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✓ 已批准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C63FF"/>
                          </a:solidFill>
                        </a:defRPr>
                      </a:pPr>
                      <a:r>
                        <a:t>¥36,000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连接器排针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供应商华富→科泰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¥0.15/pcs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¥1,200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✓ 已实施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C63FF"/>
                          </a:solidFill>
                        </a:defRPr>
                      </a:pPr>
                      <a:r>
                        <a:t>¥14,400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97680"/>
            <a:ext cx="11277295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💡 降本汇总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✓ 本月已落地降本：¥7,180/月 · 年化节约 ¥86,160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🔄 在谈/评估中：预估 ¥7,400/月 · 年化节约 ¥88,800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📊 年度累计降本：¥104,400 / 目标 ¥120,000 · 达成率 87%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🏭 供应商绩效 · Supplier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🚚 OTD 准时交付率排名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4937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</a:tblGrid>
              <a:tr h="1995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供应商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OTD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等级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华强电子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98% ✓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A级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中芯国际代理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95%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A级</a:t>
                      </a:r>
                    </a:p>
                  </a:txBody>
                  <a:tcPr/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深圳华富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92% ✓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A级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广东科泰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B82F6"/>
                          </a:solidFill>
                        </a:defRPr>
                      </a:pPr>
                      <a:r>
                        <a:t>B级</a:t>
                      </a:r>
                    </a:p>
                  </a:txBody>
                  <a:tcPr/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苏州晶圆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86% ↑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B82F6"/>
                          </a:solidFill>
                        </a:defRPr>
                      </a:pPr>
                      <a:r>
                        <a:t>B级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上海芯源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B82F6"/>
                          </a:solidFill>
                        </a:defRPr>
                      </a:pPr>
                      <a:r>
                        <a:t>B级</a:t>
                      </a:r>
                    </a:p>
                  </a:txBody>
                  <a:tcPr/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北京中发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B82F6"/>
                          </a:solidFill>
                        </a:defRPr>
                      </a:pPr>
                      <a:r>
                        <a:t>B级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杭州微电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C级</a:t>
                      </a:r>
                    </a:p>
                  </a:txBody>
                  <a:tcPr/>
                </a:tc>
              </a:tr>
              <a:tr h="19950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东莞丰华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C级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19951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武汉楚天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65% 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D级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⚠️ 供应商风险预警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🔴 武汉楚天 — 连续 3 月 OTD &lt; 70%，建议 7 月底前完成替代切换</a:t>
            </a:r>
          </a:p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🔴 厦门信达 — 合同 6/20 到期，尾单处理中，已启动退出流程</a:t>
            </a:r>
          </a:p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🟡 上海芯源 — 评分连续 3 月下降 (88→84)，建议启动 improvement plan</a:t>
            </a:r>
          </a:p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🟡 杭州微电 — 产能不稳定，月 OTD 波动大 (68-82%)，需加强沟通</a:t>
            </a:r>
          </a:p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🟢 苏州晶圆 — 引入后评分从 75 升至 88，考虑升为 B 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11277295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⚙️ 供应商评分权重配置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报价 25% · 品质 25% · 交期 20% · 服务 15% · 可持续供货 15%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A 级 (≥90) : 6 家 · 战略合作伙伴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B 级 (80-89): 4 家 · 重点培养对象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C 级 (70-79): 2 家 · 需改进提升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D 级 (&lt;70)  : 1 家 · 考虑淘汰替换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📄 合同 &amp; 资质到期预警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6634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🔴 武汉楚天 — 合同 6/30 到期 (剩余 13 天)</a:t>
            </a:r>
          </a:p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🔴 厦门信达 — 合同 6/20 到期 (已过期)</a:t>
            </a:r>
          </a:p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🟡 华强电子 — ISO9001 认证 7/15 到期</a:t>
            </a:r>
          </a:p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🟡 上海芯源 — REACH 报告 7/31 需更新</a:t>
            </a:r>
          </a:p>
          <a:p>
            <a:pPr>
              <a:spcAft>
                <a:spcPts val="200"/>
              </a:spcAft>
              <a:defRPr sz="950">
                <a:solidFill>
                  <a:srgbClr val="1A1A2E"/>
                </a:solidFill>
                <a:latin typeface="Microsoft YaHei"/>
              </a:defRPr>
            </a:pPr>
            <a:r>
              <a:t>🟡 北京中发 — 合同 7/31 到期 (剩余 44 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📋 月度总结 &amp; 下月行动计划 · Summary &amp; 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✨ 本月主要成果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✓ OTD 准时交付率连续 3 月达标，供应商管理成效显著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✓ 落地降本 ¥7,180/月，年化节约 ¥86,160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✓ 供应商整合 25→23 家，D 级逐步退出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✓ IRF520 国产替代方案已导入量产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✓ 采购费用率控制至 2.8%，优于 3.0% 目标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✓ 苏州晶圆新供应商引入测试顺利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⚠️ 未达标 &amp; 待改进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⚠ 质量 PPM 1,280 超出目标 28%，MLCC 来料需重点管控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⚠ 库存周转 42 天超目标 7 天，需加速 MLCC 库存消化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⚠ 降本达成率 87%，距年度目标差 13%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⚠ 上海芯源评分连续 3 月下滑，需跟进改善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⚠ PCB 降级方案评估周期偏长，已超 4 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1277295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📋 7 月行动计划 · 优先级排序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29768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3840480"/>
                <a:gridCol w="1828800"/>
                <a:gridCol w="2103120"/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行动项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具体目标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截止日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MLCC 国产替代 TCO 评估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完成切换方案，目标降本 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6/30 → 7/15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采购部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MOS 管 VA/VE 联合工作坊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研发+采购+供应商三方，目标降本 ¥8.5K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跨部门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武汉楚天 &amp; 厦门信达供应商退出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最后批次交付 + 替代供应商切换完成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7/31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采购部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深圳华富 QBR 季度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绩效回顾 + 下季度目标 + 降价谈判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采购部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PCB 降级方案实施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研发确认设计变更后，启动新物料验证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7/20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研发+采购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MLCC 库存专项清理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暂停采购 2 周 + 推动产线消耗积压库存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7/1 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PMC+采购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📊 采购智控系统 · 数字化能力展示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22860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Microsoft YaHei"/>
              </a:defRPr>
            </a:pPr>
            <a:r>
              <a:t>🏭 供应商管理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五维加权评分</a:t>
            </a:r>
            <a:br/>
            <a:r>
              <a:t>全生命周期管理</a:t>
            </a:r>
            <a:br/>
            <a:r>
              <a:t>绩效趋势追踪</a:t>
            </a:r>
            <a:br/>
            <a:r>
              <a:t>合同资质预警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63040"/>
            <a:ext cx="2606040" cy="22860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Microsoft YaHei"/>
              </a:defRPr>
            </a:pPr>
            <a:r>
              <a:t>💰 成本分析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745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TCO 全生命周期成本</a:t>
            </a:r>
            <a:br/>
            <a:r>
              <a:t>ABC 作业成本法</a:t>
            </a:r>
            <a:br/>
            <a:r>
              <a:t>VA/VE 价值分析</a:t>
            </a:r>
            <a:br/>
            <a:r>
              <a:t>BOM 拆解 &amp; Target Costing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2606040" cy="22860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Microsoft YaHei"/>
              </a:defRPr>
            </a:pPr>
            <a:r>
              <a:t>📈 需求预测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3 种预测模型</a:t>
            </a:r>
            <a:br/>
            <a:r>
              <a:t>季节性分析</a:t>
            </a:r>
            <a:br/>
            <a:r>
              <a:t>安全库存建议</a:t>
            </a:r>
            <a:br/>
            <a:r>
              <a:t>预测准确率追踪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63040"/>
            <a:ext cx="2606040" cy="22860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554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Microsoft YaHei"/>
              </a:defRPr>
            </a:pPr>
            <a:r>
              <a:t>🔎 寻源引入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8745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智能比价</a:t>
            </a:r>
            <a:br/>
            <a:r>
              <a:t>资质预审清单</a:t>
            </a:r>
            <a:br/>
            <a:r>
              <a:t>样品管理</a:t>
            </a:r>
            <a:br/>
            <a:r>
              <a:t>替代料推荐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2606040" cy="22860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Microsoft YaHei"/>
              </a:defRPr>
            </a:pPr>
            <a:r>
              <a:t>📄 PO 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PO 全链路看板</a:t>
            </a:r>
            <a:br/>
            <a:r>
              <a:t>交期承诺跟踪</a:t>
            </a:r>
            <a:br/>
            <a:r>
              <a:t>到货质检跟踪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4023360"/>
            <a:ext cx="2606040" cy="22860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114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Microsoft YaHei"/>
              </a:defRPr>
            </a:pPr>
            <a:r>
              <a:t>🧾 对账付款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3484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应付账款日历</a:t>
            </a:r>
            <a:br/>
            <a:r>
              <a:t>付款优先级建议</a:t>
            </a:r>
            <a:br/>
            <a:r>
              <a:t>三单匹配对账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023360"/>
            <a:ext cx="2606040" cy="22860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Microsoft YaHei"/>
              </a:defRPr>
            </a:pPr>
            <a:r>
              <a:t>📡 行业情报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3484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价格指数追踪</a:t>
            </a:r>
            <a:br/>
            <a:r>
              <a:t>交期行情分析</a:t>
            </a:r>
            <a:br/>
            <a:r>
              <a:t>紧缺料替代方案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4023360"/>
            <a:ext cx="2606040" cy="22860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1148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  <a:latin typeface="Microsoft YaHei"/>
              </a:defRPr>
            </a:pPr>
            <a:r>
              <a:t>🤖 效率工具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43484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邮件模板库</a:t>
            </a:r>
            <a:br/>
            <a:r>
              <a:t>会议纪要助手</a:t>
            </a:r>
            <a:br/>
            <a:r>
              <a:t>采购日历</a:t>
            </a:r>
            <a:br/>
            <a:r>
              <a:t>知识沉淀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